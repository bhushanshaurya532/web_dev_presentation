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Fira Sans" panose="020B0503050000020004" pitchFamily="34" charset="0"/>
      <p:regular r:id="rId13"/>
    </p:embeddedFont>
    <p:embeddedFont>
      <p:font typeface="Fira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6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https://github.com/bhushanshaurya532/WEB_DEV_PRESENTATION/blob/main/shaurya%20web/js/main.j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bhushanshaurya532/WEB_DEV_PRESENTATION/blob/main/shaurya%20web/js/data.js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jpe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286000" y="1658293"/>
            <a:ext cx="13716000" cy="3485207"/>
            <a:chOff x="0" y="0"/>
            <a:chExt cx="18288000" cy="46469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4646928"/>
            </a:xfrm>
            <a:custGeom>
              <a:avLst/>
              <a:gdLst/>
              <a:ahLst/>
              <a:cxnLst/>
              <a:rect l="l" t="t" r="r" b="b"/>
              <a:pathLst>
                <a:path w="18288000" h="4646928">
                  <a:moveTo>
                    <a:pt x="0" y="0"/>
                  </a:moveTo>
                  <a:lnTo>
                    <a:pt x="18288000" y="0"/>
                  </a:lnTo>
                  <a:lnTo>
                    <a:pt x="18288000" y="4646928"/>
                  </a:lnTo>
                  <a:lnTo>
                    <a:pt x="0" y="46469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235" b="1086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47625"/>
              <a:ext cx="18288000" cy="459931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144"/>
                </a:lnSpc>
              </a:pPr>
              <a:r>
                <a:rPr lang="en-US" sz="6615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SUGARCANE360: Plot-Specific AI &amp; Sensor-Based Irrigation Advisory Prototype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254411" y="8794490"/>
            <a:ext cx="3024311" cy="744741"/>
            <a:chOff x="0" y="0"/>
            <a:chExt cx="4032415" cy="9929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32420" cy="992982"/>
            </a:xfrm>
            <a:custGeom>
              <a:avLst/>
              <a:gdLst/>
              <a:ahLst/>
              <a:cxnLst/>
              <a:rect l="l" t="t" r="r" b="b"/>
              <a:pathLst>
                <a:path w="4032420" h="992982">
                  <a:moveTo>
                    <a:pt x="0" y="0"/>
                  </a:moveTo>
                  <a:lnTo>
                    <a:pt x="4032420" y="0"/>
                  </a:lnTo>
                  <a:lnTo>
                    <a:pt x="4032420" y="992982"/>
                  </a:lnTo>
                  <a:lnTo>
                    <a:pt x="0" y="9929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032415" cy="10025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04040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170284" y="5478719"/>
            <a:ext cx="5947431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8"/>
              </a:lnSpc>
            </a:pPr>
            <a:r>
              <a:rPr lang="en-US" sz="5256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CONTRIBUTORS:</a:t>
            </a:r>
          </a:p>
          <a:p>
            <a:pPr algn="ctr">
              <a:lnSpc>
                <a:spcPts val="6308"/>
              </a:lnSpc>
              <a:spcBef>
                <a:spcPct val="0"/>
              </a:spcBef>
            </a:pPr>
            <a:endParaRPr lang="en-US" sz="5256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605073" y="6476740"/>
            <a:ext cx="7077852" cy="1789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883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SHAURYA BHUSHAN -26</a:t>
            </a:r>
          </a:p>
          <a:p>
            <a:pPr algn="ctr">
              <a:lnSpc>
                <a:spcPts val="4659"/>
              </a:lnSpc>
            </a:pPr>
            <a:r>
              <a:rPr lang="en-US" sz="3883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Harish Chelliah-39</a:t>
            </a:r>
          </a:p>
          <a:p>
            <a:pPr algn="ctr">
              <a:lnSpc>
                <a:spcPts val="4659"/>
              </a:lnSpc>
              <a:spcBef>
                <a:spcPct val="0"/>
              </a:spcBef>
            </a:pPr>
            <a:r>
              <a:rPr lang="en-US" sz="3883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Purbasha</a:t>
            </a:r>
            <a:r>
              <a:rPr lang="en-US" sz="3883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Dass-47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322468" y="607000"/>
            <a:ext cx="13716000" cy="1112075"/>
            <a:chOff x="0" y="0"/>
            <a:chExt cx="18288000" cy="14827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1482772"/>
            </a:xfrm>
            <a:custGeom>
              <a:avLst/>
              <a:gdLst/>
              <a:ahLst/>
              <a:cxnLst/>
              <a:rect l="l" t="t" r="r" b="b"/>
              <a:pathLst>
                <a:path w="18288000" h="1482772">
                  <a:moveTo>
                    <a:pt x="0" y="0"/>
                  </a:moveTo>
                  <a:lnTo>
                    <a:pt x="18288000" y="0"/>
                  </a:lnTo>
                  <a:lnTo>
                    <a:pt x="18288000" y="1482772"/>
                  </a:lnTo>
                  <a:lnTo>
                    <a:pt x="0" y="14827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1598" b="-18904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8288000" cy="145419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254411" y="8794490"/>
            <a:ext cx="3024311" cy="744741"/>
            <a:chOff x="0" y="0"/>
            <a:chExt cx="4032415" cy="9929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32420" cy="992982"/>
            </a:xfrm>
            <a:custGeom>
              <a:avLst/>
              <a:gdLst/>
              <a:ahLst/>
              <a:cxnLst/>
              <a:rect l="l" t="t" r="r" b="b"/>
              <a:pathLst>
                <a:path w="4032420" h="992982">
                  <a:moveTo>
                    <a:pt x="0" y="0"/>
                  </a:moveTo>
                  <a:lnTo>
                    <a:pt x="4032420" y="0"/>
                  </a:lnTo>
                  <a:lnTo>
                    <a:pt x="4032420" y="992982"/>
                  </a:lnTo>
                  <a:lnTo>
                    <a:pt x="0" y="9929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032415" cy="10025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04040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0" y="1893825"/>
            <a:ext cx="18133396" cy="765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8"/>
              </a:lnSpc>
            </a:pPr>
            <a:r>
              <a:rPr lang="en-US" sz="4199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“Sugarcane requires large quantities of water (1,500 mm – 2,500 mm), but irrigation decisions are often based on farmer experience and rigid schedules rather than scientific field recommendations.”</a:t>
            </a:r>
          </a:p>
          <a:p>
            <a:pPr algn="ctr">
              <a:lnSpc>
                <a:spcPts val="5038"/>
              </a:lnSpc>
            </a:pPr>
            <a:r>
              <a:rPr lang="en-US" sz="419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This traditional approach leads to:</a:t>
            </a:r>
          </a:p>
          <a:p>
            <a:pPr marL="906579" lvl="1" indent="-453290" algn="ctr">
              <a:lnSpc>
                <a:spcPts val="5038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Over-irrigation: Water wastage, high electricity bills, and nitrogen leaching beyond the root zone.</a:t>
            </a:r>
          </a:p>
          <a:p>
            <a:pPr marL="906579" lvl="1" indent="-453290" algn="ctr">
              <a:lnSpc>
                <a:spcPts val="5038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Under-irrigation: Soil moisture stress during critical growth stages (stunting tillering and stalk elongation).</a:t>
            </a:r>
          </a:p>
          <a:p>
            <a:pPr marL="906579" lvl="1" indent="-453290" algn="ctr">
              <a:lnSpc>
                <a:spcPts val="5038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Yield Loss: Reduced cane tonnage and impaired sucrose recovery.</a:t>
            </a:r>
          </a:p>
          <a:p>
            <a:pPr marL="906579" lvl="1" indent="-453290" algn="ctr">
              <a:lnSpc>
                <a:spcPts val="5038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Labor Inefficiency: Inability to effectively prioritize among spatially distributed plots.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endParaRPr lang="en-US" sz="4199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254411" y="8794490"/>
            <a:ext cx="3024311" cy="744741"/>
            <a:chOff x="0" y="0"/>
            <a:chExt cx="4032415" cy="9929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32420" cy="992982"/>
            </a:xfrm>
            <a:custGeom>
              <a:avLst/>
              <a:gdLst/>
              <a:ahLst/>
              <a:cxnLst/>
              <a:rect l="l" t="t" r="r" b="b"/>
              <a:pathLst>
                <a:path w="4032420" h="992982">
                  <a:moveTo>
                    <a:pt x="0" y="0"/>
                  </a:moveTo>
                  <a:lnTo>
                    <a:pt x="4032420" y="0"/>
                  </a:lnTo>
                  <a:lnTo>
                    <a:pt x="4032420" y="992982"/>
                  </a:lnTo>
                  <a:lnTo>
                    <a:pt x="0" y="9929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032415" cy="10025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04040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292217" y="512964"/>
            <a:ext cx="7102475" cy="1271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48"/>
              </a:lnSpc>
            </a:pPr>
            <a:r>
              <a:rPr lang="en-US" sz="7606" b="1" dirty="0">
                <a:solidFill>
                  <a:srgbClr val="C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8650" y="2152085"/>
            <a:ext cx="17594950" cy="608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48" lvl="1" indent="-310174" algn="l">
              <a:lnSpc>
                <a:spcPts val="4022"/>
              </a:lnSpc>
              <a:buAutoNum type="arabicPeriod"/>
            </a:pPr>
            <a:r>
              <a:rPr lang="en-US" sz="2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 Agricultural Telemetry: Integrate field sensor data, soil characteristics, 7-day weather forecasts, crop growth stages, and geospatial plot records into an intuitive decision support system.</a:t>
            </a:r>
          </a:p>
          <a:p>
            <a:pPr marL="620348" lvl="1" indent="-310174" algn="l">
              <a:lnSpc>
                <a:spcPts val="4022"/>
              </a:lnSpc>
              <a:buAutoNum type="arabicPeriod"/>
            </a:pPr>
            <a:r>
              <a:rPr lang="en-US" sz="2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Minimal &amp; Farmer-Friendly Dashboard: A calm, 4-section dashboard focusing on essential daily operational needs with plenty of whitespace.</a:t>
            </a:r>
          </a:p>
          <a:p>
            <a:pPr marL="620348" lvl="1" indent="-310174" algn="l">
              <a:lnSpc>
                <a:spcPts val="4022"/>
              </a:lnSpc>
              <a:buAutoNum type="arabicPeriod"/>
            </a:pPr>
            <a:r>
              <a:rPr lang="en-US" sz="2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Plot-Specific Precision: Tailor irrigation start time, duration, and water liters for each plot individually.</a:t>
            </a:r>
          </a:p>
          <a:p>
            <a:pPr marL="620348" lvl="1" indent="-310174" algn="l">
              <a:lnSpc>
                <a:spcPts val="4022"/>
              </a:lnSpc>
              <a:buAutoNum type="arabicPeriod"/>
            </a:pPr>
            <a:r>
              <a:rPr lang="en-US" sz="2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Explainable Decision Support: Justify recommendations using 4 core factors (Soil Moisture, Rain Probability, Temperature, Crop Stage).</a:t>
            </a:r>
          </a:p>
          <a:p>
            <a:pPr marL="620348" lvl="1" indent="-310174" algn="l">
              <a:lnSpc>
                <a:spcPts val="4022"/>
              </a:lnSpc>
              <a:buAutoNum type="arabicPeriod"/>
            </a:pPr>
            <a:r>
              <a:rPr lang="en-US" sz="28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Human-in-the-Loop Validation: Empower the farmer to Accept, Modify runtime, or Override recommendations.</a:t>
            </a:r>
          </a:p>
          <a:p>
            <a:pPr algn="l">
              <a:lnSpc>
                <a:spcPts val="4022"/>
              </a:lnSpc>
            </a:pPr>
            <a:endParaRPr lang="en-US" sz="287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254411" y="8794490"/>
            <a:ext cx="3024311" cy="744741"/>
            <a:chOff x="0" y="0"/>
            <a:chExt cx="4032415" cy="9929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32420" cy="992982"/>
            </a:xfrm>
            <a:custGeom>
              <a:avLst/>
              <a:gdLst/>
              <a:ahLst/>
              <a:cxnLst/>
              <a:rect l="l" t="t" r="r" b="b"/>
              <a:pathLst>
                <a:path w="4032420" h="992982">
                  <a:moveTo>
                    <a:pt x="0" y="0"/>
                  </a:moveTo>
                  <a:lnTo>
                    <a:pt x="4032420" y="0"/>
                  </a:lnTo>
                  <a:lnTo>
                    <a:pt x="4032420" y="992982"/>
                  </a:lnTo>
                  <a:lnTo>
                    <a:pt x="0" y="9929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032415" cy="10025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04040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723049" y="6422175"/>
            <a:ext cx="8030399" cy="3291835"/>
          </a:xfrm>
          <a:custGeom>
            <a:avLst/>
            <a:gdLst/>
            <a:ahLst/>
            <a:cxnLst/>
            <a:rect l="l" t="t" r="r" b="b"/>
            <a:pathLst>
              <a:path w="8030399" h="3291835">
                <a:moveTo>
                  <a:pt x="0" y="0"/>
                </a:moveTo>
                <a:lnTo>
                  <a:pt x="8030399" y="0"/>
                </a:lnTo>
                <a:lnTo>
                  <a:pt x="8030399" y="3291834"/>
                </a:lnTo>
                <a:lnTo>
                  <a:pt x="0" y="3291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0" y="1720820"/>
            <a:ext cx="18288000" cy="50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4"/>
              </a:lnSpc>
            </a:pPr>
            <a:r>
              <a:rPr lang="en-US" sz="303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Technology Stack</a:t>
            </a:r>
          </a:p>
          <a:p>
            <a:pPr marL="655655" lvl="1" indent="-327828" algn="l">
              <a:lnSpc>
                <a:spcPts val="3644"/>
              </a:lnSpc>
              <a:buFont typeface="Arial"/>
              <a:buChar char="•"/>
            </a:pPr>
            <a:r>
              <a:rPr lang="en-US" sz="3036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HTML5:</a:t>
            </a:r>
            <a:r>
              <a:rPr lang="en-US" sz="303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Semantic, accessible layout.</a:t>
            </a:r>
          </a:p>
          <a:p>
            <a:pPr marL="655655" lvl="1" indent="-327828" algn="l">
              <a:lnSpc>
                <a:spcPts val="3644"/>
              </a:lnSpc>
              <a:buFont typeface="Arial"/>
              <a:buChar char="•"/>
            </a:pPr>
            <a:r>
              <a:rPr lang="en-US" sz="3036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CSS3: </a:t>
            </a:r>
            <a:r>
              <a:rPr lang="en-US" sz="303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Custom agricultural color palette (Forest Green #1b4332, Sage #40916c, Cream #faf8f5, White #ffffff, Muted Yellow #d4a373), CSS Grid, Flexbox, responsive navbar rules.</a:t>
            </a:r>
          </a:p>
          <a:p>
            <a:pPr marL="655655" lvl="1" indent="-327828" algn="l">
              <a:lnSpc>
                <a:spcPts val="3644"/>
              </a:lnSpc>
              <a:buFont typeface="Arial"/>
              <a:buChar char="•"/>
            </a:pPr>
            <a:r>
              <a:rPr lang="en-US" sz="3036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Vanilla JavaScript (ES6+): </a:t>
            </a:r>
            <a:r>
              <a:rPr lang="en-US" sz="303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Centralized mock state (</a:t>
            </a:r>
            <a:r>
              <a:rPr lang="en-US" sz="3036" u="sng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  <a:hlinkClick r:id="rId6" tooltip="https://github.com/bhushanshaurya532/WEB_DEV_PRESENTATION/blob/main/shaurya%20web/js/data.js"/>
              </a:rPr>
              <a:t>js/data.js</a:t>
            </a:r>
            <a:r>
              <a:rPr lang="en-US" sz="303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), shared navbar/toast handlers (</a:t>
            </a:r>
            <a:r>
              <a:rPr lang="en-US" sz="3036" u="sng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  <a:hlinkClick r:id="rId7" tooltip="https://github.com/bhushanshaurya532/WEB_DEV_PRESENTATION/blob/main/shaurya%20web/js/main.js"/>
              </a:rPr>
              <a:t>js/main.js</a:t>
            </a:r>
            <a:r>
              <a:rPr lang="en-US" sz="303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), modular page controllers.</a:t>
            </a:r>
          </a:p>
          <a:p>
            <a:pPr marL="655655" lvl="1" indent="-327828" algn="l">
              <a:lnSpc>
                <a:spcPts val="3644"/>
              </a:lnSpc>
              <a:buFont typeface="Arial"/>
              <a:buChar char="•"/>
            </a:pPr>
            <a:r>
              <a:rPr lang="en-US" sz="3036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Chart.js (CDN)</a:t>
            </a:r>
            <a:r>
              <a:rPr lang="en-US" sz="303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: Lightweight data visualization for moisture trends, water savings, and yield progression.</a:t>
            </a:r>
          </a:p>
          <a:p>
            <a:pPr marL="655655" lvl="1" indent="-327828" algn="l">
              <a:lnSpc>
                <a:spcPts val="3644"/>
              </a:lnSpc>
              <a:buFont typeface="Arial"/>
              <a:buChar char="•"/>
            </a:pPr>
            <a:r>
              <a:rPr lang="en-US" sz="3036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Lucide Icons (CDN): </a:t>
            </a:r>
            <a:r>
              <a:rPr lang="en-US" sz="303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Modern, clean agricultural SVG icons.</a:t>
            </a:r>
          </a:p>
          <a:p>
            <a:pPr marL="655655" lvl="1" indent="-327828" algn="l">
              <a:lnSpc>
                <a:spcPts val="3644"/>
              </a:lnSpc>
              <a:buFont typeface="Arial"/>
              <a:buChar char="•"/>
            </a:pPr>
            <a:r>
              <a:rPr lang="en-US" sz="303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Zero Frameworks / Zero External Backend: 100% runnable in any modern web browser.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endParaRPr lang="en-US" sz="3036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170812" y="411834"/>
            <a:ext cx="10307187" cy="1031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29"/>
              </a:lnSpc>
            </a:pPr>
            <a:r>
              <a:rPr lang="en-US" sz="616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Methodology/tech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254411" y="8794490"/>
            <a:ext cx="3024311" cy="744741"/>
            <a:chOff x="0" y="0"/>
            <a:chExt cx="4032415" cy="9929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32420" cy="992982"/>
            </a:xfrm>
            <a:custGeom>
              <a:avLst/>
              <a:gdLst/>
              <a:ahLst/>
              <a:cxnLst/>
              <a:rect l="l" t="t" r="r" b="b"/>
              <a:pathLst>
                <a:path w="4032420" h="992982">
                  <a:moveTo>
                    <a:pt x="0" y="0"/>
                  </a:moveTo>
                  <a:lnTo>
                    <a:pt x="4032420" y="0"/>
                  </a:lnTo>
                  <a:lnTo>
                    <a:pt x="4032420" y="992982"/>
                  </a:lnTo>
                  <a:lnTo>
                    <a:pt x="0" y="99298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9126" b="-2912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032415" cy="10025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04040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</a:p>
          </p:txBody>
        </p:sp>
      </p:grpSp>
      <p:pic>
        <p:nvPicPr>
          <p:cNvPr id="15" name="Picture 15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800"/>
                </p14:media>
              </p:ext>
            </p:extLst>
          </p:nvPr>
        </p:nvPicPr>
        <p:blipFill>
          <a:blip r:embed="rId7"/>
          <a:srcRect t="10119"/>
          <a:stretch>
            <a:fillRect/>
          </a:stretch>
        </p:blipFill>
        <p:spPr>
          <a:xfrm>
            <a:off x="1555835" y="1617829"/>
            <a:ext cx="14841017" cy="7503312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316785" y="411610"/>
            <a:ext cx="9856415" cy="1090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8"/>
              </a:lnSpc>
            </a:pPr>
            <a:r>
              <a:rPr lang="en-US" sz="6505" b="1" dirty="0">
                <a:solidFill>
                  <a:srgbClr val="C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/ Demo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254411" y="8794490"/>
            <a:ext cx="3024311" cy="744741"/>
            <a:chOff x="0" y="0"/>
            <a:chExt cx="4032415" cy="9929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32420" cy="992982"/>
            </a:xfrm>
            <a:custGeom>
              <a:avLst/>
              <a:gdLst/>
              <a:ahLst/>
              <a:cxnLst/>
              <a:rect l="l" t="t" r="r" b="b"/>
              <a:pathLst>
                <a:path w="4032420" h="992982">
                  <a:moveTo>
                    <a:pt x="0" y="0"/>
                  </a:moveTo>
                  <a:lnTo>
                    <a:pt x="4032420" y="0"/>
                  </a:lnTo>
                  <a:lnTo>
                    <a:pt x="4032420" y="992982"/>
                  </a:lnTo>
                  <a:lnTo>
                    <a:pt x="0" y="9929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032415" cy="10025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04040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-142873" y="1760513"/>
            <a:ext cx="7816096" cy="4974371"/>
          </a:xfrm>
          <a:custGeom>
            <a:avLst/>
            <a:gdLst/>
            <a:ahLst/>
            <a:cxnLst/>
            <a:rect l="l" t="t" r="r" b="b"/>
            <a:pathLst>
              <a:path w="7816096" h="4974371">
                <a:moveTo>
                  <a:pt x="0" y="0"/>
                </a:moveTo>
                <a:lnTo>
                  <a:pt x="7816096" y="0"/>
                </a:lnTo>
                <a:lnTo>
                  <a:pt x="7816096" y="4974371"/>
                </a:lnTo>
                <a:lnTo>
                  <a:pt x="0" y="4974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665143" y="1779278"/>
            <a:ext cx="7374342" cy="4936841"/>
          </a:xfrm>
          <a:custGeom>
            <a:avLst/>
            <a:gdLst/>
            <a:ahLst/>
            <a:cxnLst/>
            <a:rect l="l" t="t" r="r" b="b"/>
            <a:pathLst>
              <a:path w="7374342" h="4936841">
                <a:moveTo>
                  <a:pt x="0" y="0"/>
                </a:moveTo>
                <a:lnTo>
                  <a:pt x="7374342" y="0"/>
                </a:lnTo>
                <a:lnTo>
                  <a:pt x="7374342" y="4936841"/>
                </a:lnTo>
                <a:lnTo>
                  <a:pt x="0" y="49368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939210" y="3897713"/>
            <a:ext cx="8616521" cy="5636812"/>
          </a:xfrm>
          <a:custGeom>
            <a:avLst/>
            <a:gdLst/>
            <a:ahLst/>
            <a:cxnLst/>
            <a:rect l="l" t="t" r="r" b="b"/>
            <a:pathLst>
              <a:path w="8616521" h="5636812">
                <a:moveTo>
                  <a:pt x="0" y="0"/>
                </a:moveTo>
                <a:lnTo>
                  <a:pt x="8616522" y="0"/>
                </a:lnTo>
                <a:lnTo>
                  <a:pt x="8616522" y="5636812"/>
                </a:lnTo>
                <a:lnTo>
                  <a:pt x="0" y="56368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316785" y="411610"/>
            <a:ext cx="9654429" cy="111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8"/>
              </a:lnSpc>
            </a:pPr>
            <a:r>
              <a:rPr lang="en-US" sz="6505" b="1">
                <a:solidFill>
                  <a:srgbClr val="C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/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254411" y="8794490"/>
            <a:ext cx="3024311" cy="744741"/>
            <a:chOff x="0" y="0"/>
            <a:chExt cx="4032415" cy="9929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32420" cy="992982"/>
            </a:xfrm>
            <a:custGeom>
              <a:avLst/>
              <a:gdLst/>
              <a:ahLst/>
              <a:cxnLst/>
              <a:rect l="l" t="t" r="r" b="b"/>
              <a:pathLst>
                <a:path w="4032420" h="992982">
                  <a:moveTo>
                    <a:pt x="0" y="0"/>
                  </a:moveTo>
                  <a:lnTo>
                    <a:pt x="4032420" y="0"/>
                  </a:lnTo>
                  <a:lnTo>
                    <a:pt x="4032420" y="992982"/>
                  </a:lnTo>
                  <a:lnTo>
                    <a:pt x="0" y="9929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032415" cy="10025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04040"/>
                  </a:solidFill>
                  <a:latin typeface="Fira Sans"/>
                  <a:ea typeface="Fira Sans"/>
                  <a:cs typeface="Fira Sans"/>
                  <a:sym typeface="Fira Sans"/>
                </a:rPr>
                <a:t>7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0550783" y="1454793"/>
            <a:ext cx="6982526" cy="6342330"/>
          </a:xfrm>
          <a:custGeom>
            <a:avLst/>
            <a:gdLst/>
            <a:ahLst/>
            <a:cxnLst/>
            <a:rect l="l" t="t" r="r" b="b"/>
            <a:pathLst>
              <a:path w="6982526" h="6342330">
                <a:moveTo>
                  <a:pt x="0" y="0"/>
                </a:moveTo>
                <a:lnTo>
                  <a:pt x="6982526" y="0"/>
                </a:lnTo>
                <a:lnTo>
                  <a:pt x="6982526" y="6342330"/>
                </a:lnTo>
                <a:lnTo>
                  <a:pt x="0" y="6342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189" r="-118020" b="-10021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615233" y="497832"/>
            <a:ext cx="7057534" cy="956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7"/>
              </a:lnSpc>
            </a:pPr>
            <a:r>
              <a:rPr lang="en-US" sz="561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Results/outcome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956" y="1586660"/>
            <a:ext cx="7421246" cy="3245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3"/>
              </a:lnSpc>
              <a:spcBef>
                <a:spcPct val="0"/>
              </a:spcBef>
            </a:pPr>
            <a:r>
              <a:rPr lang="en-US" sz="4286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Fira Sans"/>
                <a:ea typeface="Fira Sans"/>
                <a:cs typeface="Fira Sans"/>
                <a:sym typeface="Fira Sans"/>
              </a:rPr>
              <a:t>Interactive Decision-Support UI: Built a responsive, zero-latency dashboard that translates raw agricultural parameters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62233E-4729-054F-2C51-EC7FF3158B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654" y="4869061"/>
            <a:ext cx="6306548" cy="46286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254411" y="8794490"/>
            <a:ext cx="3024311" cy="744741"/>
            <a:chOff x="0" y="0"/>
            <a:chExt cx="4032415" cy="9929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32420" cy="992982"/>
            </a:xfrm>
            <a:custGeom>
              <a:avLst/>
              <a:gdLst/>
              <a:ahLst/>
              <a:cxnLst/>
              <a:rect l="l" t="t" r="r" b="b"/>
              <a:pathLst>
                <a:path w="4032420" h="992982">
                  <a:moveTo>
                    <a:pt x="0" y="0"/>
                  </a:moveTo>
                  <a:lnTo>
                    <a:pt x="4032420" y="0"/>
                  </a:lnTo>
                  <a:lnTo>
                    <a:pt x="4032420" y="992982"/>
                  </a:lnTo>
                  <a:lnTo>
                    <a:pt x="0" y="9929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032415" cy="10025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04040"/>
                  </a:solidFill>
                  <a:latin typeface="Fira Sans"/>
                  <a:ea typeface="Fira Sans"/>
                  <a:cs typeface="Fira Sans"/>
                  <a:sym typeface="Fira Sans"/>
                </a:rPr>
                <a:t>7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125202" y="322784"/>
            <a:ext cx="10161580" cy="952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7"/>
              </a:lnSpc>
            </a:pPr>
            <a:r>
              <a:rPr lang="en-US" sz="5619" b="1">
                <a:solidFill>
                  <a:srgbClr val="C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and future scope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1078" y="9229264"/>
            <a:ext cx="2804124" cy="29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7"/>
              </a:lnSpc>
            </a:pPr>
            <a:endParaRPr/>
          </a:p>
          <a:p>
            <a:pPr algn="ctr">
              <a:lnSpc>
                <a:spcPts val="1197"/>
              </a:lnSpc>
              <a:spcBef>
                <a:spcPct val="0"/>
              </a:spcBef>
            </a:pPr>
            <a:r>
              <a:rPr lang="en-US" sz="997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terms and conditions apply(pls juice the stock)**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7341" y="2245862"/>
            <a:ext cx="17295775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0"/>
              </a:lnSpc>
              <a:spcBef>
                <a:spcPct val="0"/>
              </a:spcBef>
            </a:pPr>
            <a:r>
              <a:rPr lang="en-US" sz="3217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Fira Sans"/>
                <a:ea typeface="Fira Sans"/>
                <a:cs typeface="Fira Sans"/>
                <a:sym typeface="Fira Sans"/>
              </a:rPr>
              <a:t>The project successfully delivers a lightweight, accessible decision-support interface that shifts sugarcane water management from intuitive guesswork to data-backed, scientific scheduling. By executing crop water requirement calculations entirely on the client side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2821" y="4230438"/>
            <a:ext cx="16322358" cy="402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sz="334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Future Scope</a:t>
            </a:r>
          </a:p>
          <a:p>
            <a:pPr marL="723260" lvl="1" indent="-361630" algn="l">
              <a:lnSpc>
                <a:spcPts val="4019"/>
              </a:lnSpc>
              <a:spcBef>
                <a:spcPct val="0"/>
              </a:spcBef>
              <a:buFont typeface="Arial"/>
              <a:buChar char="•"/>
            </a:pPr>
            <a:r>
              <a:rPr lang="en-US" sz="334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Backend &amp; API Architecture: Integrate a dedicated backend (such as Python/FastAPI or Node.js) to manage persistent user profiles, historical plot analytics, and cross-device state synchronization.</a:t>
            </a:r>
          </a:p>
          <a:p>
            <a:pPr marL="723260" lvl="1" indent="-361630" algn="l">
              <a:lnSpc>
                <a:spcPts val="4019"/>
              </a:lnSpc>
              <a:spcBef>
                <a:spcPct val="0"/>
              </a:spcBef>
              <a:buFont typeface="Arial"/>
              <a:buChar char="•"/>
            </a:pPr>
            <a:r>
              <a:rPr lang="en-US" sz="334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IoT Sensor Integration: Connect the platform to on field hardware</a:t>
            </a:r>
          </a:p>
          <a:p>
            <a:pPr marL="723260" lvl="1" indent="-361630" algn="l">
              <a:lnSpc>
                <a:spcPts val="4019"/>
              </a:lnSpc>
              <a:spcBef>
                <a:spcPct val="0"/>
              </a:spcBef>
              <a:buFont typeface="Arial"/>
              <a:buChar char="•"/>
            </a:pPr>
            <a:r>
              <a:rPr lang="en-US" sz="334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Adding Aadhaar-based authentication (OTP/e-KYC) via the backend enables seamless farmer onboarding without passwords</a:t>
            </a:r>
          </a:p>
          <a:p>
            <a:pPr algn="l">
              <a:lnSpc>
                <a:spcPts val="4019"/>
              </a:lnSpc>
              <a:spcBef>
                <a:spcPct val="0"/>
              </a:spcBef>
            </a:pPr>
            <a:endParaRPr lang="en-US" sz="3349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254411" y="8794490"/>
            <a:ext cx="3024311" cy="744741"/>
            <a:chOff x="0" y="0"/>
            <a:chExt cx="4032415" cy="9929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32420" cy="992982"/>
            </a:xfrm>
            <a:custGeom>
              <a:avLst/>
              <a:gdLst/>
              <a:ahLst/>
              <a:cxnLst/>
              <a:rect l="l" t="t" r="r" b="b"/>
              <a:pathLst>
                <a:path w="4032420" h="992982">
                  <a:moveTo>
                    <a:pt x="0" y="0"/>
                  </a:moveTo>
                  <a:lnTo>
                    <a:pt x="4032420" y="0"/>
                  </a:lnTo>
                  <a:lnTo>
                    <a:pt x="4032420" y="992982"/>
                  </a:lnTo>
                  <a:lnTo>
                    <a:pt x="0" y="9929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032415" cy="10025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04040"/>
                  </a:solidFill>
                  <a:latin typeface="Fira Sans"/>
                  <a:ea typeface="Fira Sans"/>
                  <a:cs typeface="Fira Sans"/>
                  <a:sym typeface="Fira Sans"/>
                </a:rPr>
                <a:t>8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486400" y="3238500"/>
            <a:ext cx="6880543" cy="4853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  <a:p>
            <a:pPr algn="ctr">
              <a:lnSpc>
                <a:spcPts val="12880"/>
              </a:lnSpc>
            </a:pPr>
            <a:endParaRPr lang="en-US" sz="9200" b="1" dirty="0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503</Words>
  <Application>Microsoft Office PowerPoint</Application>
  <PresentationFormat>Custom</PresentationFormat>
  <Paragraphs>48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Arial</vt:lpstr>
      <vt:lpstr>Canva Sans Bold</vt:lpstr>
      <vt:lpstr>Fira Sans</vt:lpstr>
      <vt:lpstr>Fira Sans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SUGARCANE360: Plot-Specific AI &amp; Sensor-Based Irrigation Advisory Prototype</dc:title>
  <cp:lastModifiedBy>Karnika Bhushan</cp:lastModifiedBy>
  <cp:revision>2</cp:revision>
  <dcterms:created xsi:type="dcterms:W3CDTF">2006-08-16T00:00:00Z</dcterms:created>
  <dcterms:modified xsi:type="dcterms:W3CDTF">2026-10-17T13:02:08Z</dcterms:modified>
  <dc:identifier>DAHXJw_L63w</dc:identifier>
</cp:coreProperties>
</file>